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647" r:id="rId2"/>
    <p:sldId id="650" r:id="rId3"/>
    <p:sldId id="648" r:id="rId4"/>
    <p:sldId id="646" r:id="rId5"/>
    <p:sldId id="651" r:id="rId6"/>
    <p:sldId id="64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82B6"/>
    <a:srgbClr val="2E65A6"/>
    <a:srgbClr val="2E3092"/>
    <a:srgbClr val="F793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856" autoAdjust="0"/>
  </p:normalViewPr>
  <p:slideViewPr>
    <p:cSldViewPr snapToGrid="0">
      <p:cViewPr varScale="1">
        <p:scale>
          <a:sx n="103" d="100"/>
          <a:sy n="103" d="100"/>
        </p:scale>
        <p:origin x="11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4109A-1DE1-4E9D-AA10-EB1F668BE52D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86659-5B36-47D4-94B0-C6A1D9475F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412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05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宇视私有化，</a:t>
            </a:r>
            <a:r>
              <a:rPr lang="zh-CN" altLang="en-US" sz="12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配置要求：</a:t>
            </a:r>
            <a:endParaRPr lang="en-US" altLang="zh-CN" sz="12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8</a:t>
            </a:r>
            <a:r>
              <a:rPr lang="zh-CN" altLang="en-US" sz="12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台</a:t>
            </a:r>
            <a:r>
              <a:rPr lang="en-US" altLang="zh-CN" sz="12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16</a:t>
            </a:r>
            <a:r>
              <a:rPr lang="zh-CN" altLang="en-US" sz="12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核服务器，</a:t>
            </a:r>
            <a:r>
              <a:rPr lang="en-US" altLang="zh-CN" sz="12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10w</a:t>
            </a:r>
            <a:r>
              <a:rPr lang="zh-CN" altLang="en-US" sz="12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设备。</a:t>
            </a:r>
            <a:endParaRPr lang="en-US" altLang="zh-CN" sz="12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定制项目：</a:t>
            </a:r>
            <a:endParaRPr lang="en-US" altLang="zh-CN" sz="12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283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888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947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344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357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67E0E0-449F-431A-8EDF-083E6F882F6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141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3269-A4F5-441A-83F3-4CF4FE125111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ECE6D-E922-436F-95F4-46E43E5BCE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3269-A4F5-441A-83F3-4CF4FE125111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ECE6D-E922-436F-95F4-46E43E5BCE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F3269-A4F5-441A-83F3-4CF4FE125111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ECE6D-E922-436F-95F4-46E43E5BCE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bg>
      <p:bgPr>
        <a:gradFill>
          <a:gsLst>
            <a:gs pos="0">
              <a:schemeClr val="bg1"/>
            </a:gs>
            <a:gs pos="100000">
              <a:schemeClr val="accent2">
                <a:alpha val="0"/>
                <a:lumMod val="64000"/>
              </a:scheme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294" y="0"/>
            <a:ext cx="3787775" cy="3236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F3269-A4F5-441A-83F3-4CF4FE125111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ECE6D-E922-436F-95F4-46E43E5BCE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/>
        </p:nvSpPr>
        <p:spPr>
          <a:xfrm>
            <a:off x="3665815" y="5053661"/>
            <a:ext cx="3254278" cy="6393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446151" y="5057832"/>
            <a:ext cx="3118183" cy="10373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68653" y="2942487"/>
            <a:ext cx="6724144" cy="16445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0343" y="238889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2982B6"/>
                </a:solidFill>
                <a:latin typeface="+mj-ea"/>
                <a:ea typeface="+mj-ea"/>
              </a:rPr>
              <a:t>快速接入方案</a:t>
            </a:r>
          </a:p>
        </p:txBody>
      </p:sp>
      <p:sp>
        <p:nvSpPr>
          <p:cNvPr id="2" name="云形 1"/>
          <p:cNvSpPr/>
          <p:nvPr/>
        </p:nvSpPr>
        <p:spPr>
          <a:xfrm>
            <a:off x="195949" y="3290600"/>
            <a:ext cx="3292697" cy="1038407"/>
          </a:xfrm>
          <a:prstGeom prst="cloud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海尔智家云</a:t>
            </a:r>
          </a:p>
        </p:txBody>
      </p:sp>
      <p:sp>
        <p:nvSpPr>
          <p:cNvPr id="3" name="云形 2"/>
          <p:cNvSpPr/>
          <p:nvPr/>
        </p:nvSpPr>
        <p:spPr>
          <a:xfrm>
            <a:off x="4284936" y="3469154"/>
            <a:ext cx="1528546" cy="72749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宇视云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私有化部署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84909" y="5160343"/>
            <a:ext cx="784746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冰箱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1487936" y="5160343"/>
            <a:ext cx="784746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空调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2390963" y="5177402"/>
            <a:ext cx="930322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洗衣机</a:t>
            </a:r>
          </a:p>
        </p:txBody>
      </p:sp>
      <p:sp>
        <p:nvSpPr>
          <p:cNvPr id="36" name="圆角矩形 35"/>
          <p:cNvSpPr/>
          <p:nvPr/>
        </p:nvSpPr>
        <p:spPr>
          <a:xfrm>
            <a:off x="1470954" y="5636876"/>
            <a:ext cx="801728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4375045" y="5168694"/>
            <a:ext cx="1173704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宇视相机</a:t>
            </a:r>
          </a:p>
        </p:txBody>
      </p:sp>
      <p:sp>
        <p:nvSpPr>
          <p:cNvPr id="39" name="圆角矩形 38"/>
          <p:cNvSpPr/>
          <p:nvPr/>
        </p:nvSpPr>
        <p:spPr>
          <a:xfrm>
            <a:off x="5798699" y="5160343"/>
            <a:ext cx="930322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842298" y="1398068"/>
            <a:ext cx="3331100" cy="51293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海尔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385448" y="2953953"/>
            <a:ext cx="1456849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海尔云平台</a:t>
            </a: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1842297" y="4307927"/>
            <a:ext cx="1" cy="76598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2116794" y="1882193"/>
            <a:ext cx="0" cy="14084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199670" y="216513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海尔用户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设备资源</a:t>
            </a: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4587038" y="1909880"/>
            <a:ext cx="0" cy="146601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3530725" y="3706099"/>
            <a:ext cx="712132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 flipH="1" flipV="1">
            <a:off x="4961897" y="4205001"/>
            <a:ext cx="9805" cy="86891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圆角矩形 52"/>
          <p:cNvSpPr/>
          <p:nvPr/>
        </p:nvSpPr>
        <p:spPr>
          <a:xfrm>
            <a:off x="4255196" y="1693813"/>
            <a:ext cx="914400" cy="210267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宇视</a:t>
            </a:r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 SDK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442398" y="141297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音视频流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7474845" y="1427193"/>
            <a:ext cx="4199591" cy="1673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接入方案：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海尔提供资源，供宇视云做私有化部署，成为海尔云平台的一个微服务。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宇视提供云端接口和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 SDK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，分别供海尔云平台和海尔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xmlns="" id="{F4667CC4-D647-41FB-89A5-8133B70298F2}"/>
              </a:ext>
            </a:extLst>
          </p:cNvPr>
          <p:cNvSpPr txBox="1"/>
          <p:nvPr/>
        </p:nvSpPr>
        <p:spPr>
          <a:xfrm>
            <a:off x="7474845" y="3481472"/>
            <a:ext cx="438909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好处：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成熟度高，全球已有</a:t>
            </a:r>
            <a:r>
              <a:rPr lang="en-US" altLang="zh-CN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50+</a:t>
            </a:r>
            <a:r>
              <a: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个项目以该此方案落地</a:t>
            </a:r>
            <a:endParaRPr lang="en-US" altLang="zh-CN" sz="1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核心技术链路，全</a:t>
            </a:r>
            <a:r>
              <a: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由宇视兜底</a:t>
            </a:r>
            <a:endParaRPr lang="en-US" altLang="zh-CN" sz="1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对接快速，实施周期短；</a:t>
            </a:r>
            <a:endParaRPr lang="en-US" altLang="zh-CN" sz="1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圆角矩形 52">
            <a:extLst>
              <a:ext uri="{FF2B5EF4-FFF2-40B4-BE49-F238E27FC236}">
                <a16:creationId xmlns:a16="http://schemas.microsoft.com/office/drawing/2014/main" xmlns="" id="{6EA4DE13-A244-4DDE-80E1-E11D5A887BB6}"/>
              </a:ext>
            </a:extLst>
          </p:cNvPr>
          <p:cNvSpPr/>
          <p:nvPr/>
        </p:nvSpPr>
        <p:spPr>
          <a:xfrm>
            <a:off x="3460645" y="3438315"/>
            <a:ext cx="914400" cy="210267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宇视云</a:t>
            </a:r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xmlns="" id="{EB03A24D-5BEA-409A-B56D-7468BDF03545}"/>
              </a:ext>
            </a:extLst>
          </p:cNvPr>
          <p:cNvSpPr txBox="1"/>
          <p:nvPr/>
        </p:nvSpPr>
        <p:spPr>
          <a:xfrm>
            <a:off x="7474845" y="5208929"/>
            <a:ext cx="4271004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对接周期：</a:t>
            </a:r>
            <a:endParaRPr lang="en-US" altLang="zh-CN" sz="1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云服务私有化部署</a:t>
            </a:r>
            <a:r>
              <a:rPr lang="en-US" altLang="zh-CN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</a:t>
            </a:r>
            <a:endParaRPr lang="en-US" altLang="zh-CN" sz="1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对接开发需海尔一起评估</a:t>
            </a:r>
            <a:endParaRPr lang="zh-CN" altLang="en-US" sz="1400" dirty="0"/>
          </a:p>
        </p:txBody>
      </p:sp>
      <p:cxnSp>
        <p:nvCxnSpPr>
          <p:cNvPr id="28" name="直接箭头连接符 27"/>
          <p:cNvCxnSpPr/>
          <p:nvPr/>
        </p:nvCxnSpPr>
        <p:spPr>
          <a:xfrm flipH="1" flipV="1">
            <a:off x="3530725" y="3873664"/>
            <a:ext cx="712132" cy="111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圆角矩形 52">
            <a:extLst>
              <a:ext uri="{FF2B5EF4-FFF2-40B4-BE49-F238E27FC236}">
                <a16:creationId xmlns:a16="http://schemas.microsoft.com/office/drawing/2014/main" xmlns="" id="{6EA4DE13-A244-4DDE-80E1-E11D5A887BB6}"/>
              </a:ext>
            </a:extLst>
          </p:cNvPr>
          <p:cNvSpPr/>
          <p:nvPr/>
        </p:nvSpPr>
        <p:spPr>
          <a:xfrm>
            <a:off x="3429591" y="3949079"/>
            <a:ext cx="914400" cy="210267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海尔</a:t>
            </a:r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</a:t>
            </a:r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6133174"/>
      </p:ext>
    </p:extLst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290343" y="238889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2982B6"/>
                </a:solidFill>
                <a:latin typeface="+mj-ea"/>
                <a:ea typeface="+mj-ea"/>
              </a:rPr>
              <a:t>快速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接入工作量（海尔）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322662"/>
              </p:ext>
            </p:extLst>
          </p:nvPr>
        </p:nvGraphicFramePr>
        <p:xfrm>
          <a:off x="394421" y="1047342"/>
          <a:ext cx="10437132" cy="5313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269"/>
                <a:gridCol w="5380794"/>
                <a:gridCol w="2819069"/>
              </a:tblGrid>
              <a:tr h="429393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核心规格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诉求</a:t>
                      </a:r>
                      <a:endParaRPr lang="zh-CN" altLang="en-US" dirty="0"/>
                    </a:p>
                  </a:txBody>
                  <a:tcPr/>
                </a:tc>
              </a:tr>
              <a:tr h="658169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移动端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Flutter</a:t>
                      </a:r>
                      <a:r>
                        <a:rPr lang="zh-CN" altLang="en-US" dirty="0" smtClean="0"/>
                        <a:t>业务层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希望宇视协助完成</a:t>
                      </a:r>
                      <a:endParaRPr lang="zh-CN" altLang="en-US" dirty="0"/>
                    </a:p>
                  </a:txBody>
                  <a:tcPr/>
                </a:tc>
              </a:tr>
              <a:tr h="38132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原生层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宇视提供</a:t>
                      </a:r>
                      <a:endParaRPr lang="zh-CN" altLang="en-US" dirty="0"/>
                    </a:p>
                  </a:txBody>
                  <a:tcPr/>
                </a:tc>
              </a:tr>
              <a:tr h="38132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音视频接入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未交流</a:t>
                      </a:r>
                      <a:endParaRPr lang="zh-CN" altLang="en-US" dirty="0"/>
                    </a:p>
                  </a:txBody>
                  <a:tcPr/>
                </a:tc>
              </a:tr>
              <a:tr h="658169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IoT</a:t>
                      </a:r>
                      <a:r>
                        <a:rPr lang="zh-CN" altLang="en-US" dirty="0" smtClean="0"/>
                        <a:t>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对接宇视云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对接宇视部分接口</a:t>
                      </a:r>
                      <a:endParaRPr lang="zh-CN" altLang="en-US" dirty="0"/>
                    </a:p>
                  </a:txBody>
                  <a:tcPr/>
                </a:tc>
              </a:tr>
              <a:tr h="38132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私有化部署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宇视维护，堡垒机安全账号申请</a:t>
                      </a:r>
                      <a:endParaRPr lang="zh-CN" altLang="en-US" dirty="0"/>
                    </a:p>
                  </a:txBody>
                  <a:tcPr/>
                </a:tc>
              </a:tr>
              <a:tr h="38132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宇视接入海尔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参考海尔云的物模型方式</a:t>
                      </a:r>
                      <a:endParaRPr lang="zh-CN" altLang="en-US" dirty="0"/>
                    </a:p>
                  </a:txBody>
                  <a:tcPr/>
                </a:tc>
              </a:tr>
              <a:tr h="38132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增值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未交流</a:t>
                      </a:r>
                      <a:endParaRPr lang="zh-CN" altLang="en-US" dirty="0"/>
                    </a:p>
                  </a:txBody>
                  <a:tcPr/>
                </a:tc>
              </a:tr>
              <a:tr h="38132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海尔开放平台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产品导入：型号、图片、配网模式、物模型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未交流</a:t>
                      </a:r>
                      <a:endParaRPr lang="zh-CN" altLang="en-US" dirty="0"/>
                    </a:p>
                  </a:txBody>
                  <a:tcPr/>
                </a:tc>
              </a:tr>
              <a:tr h="3813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TV</a:t>
                      </a:r>
                      <a:r>
                        <a:rPr lang="zh-CN" altLang="en-US" dirty="0" smtClean="0"/>
                        <a:t>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未交流</a:t>
                      </a:r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  <a:tr h="38132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产品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交互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未交流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9608968"/>
      </p:ext>
    </p:extLst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290343" y="238889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2982B6"/>
                </a:solidFill>
                <a:latin typeface="+mj-ea"/>
                <a:ea typeface="+mj-ea"/>
              </a:rPr>
              <a:t>快速</a:t>
            </a:r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接入工作量（我司）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068874"/>
              </p:ext>
            </p:extLst>
          </p:nvPr>
        </p:nvGraphicFramePr>
        <p:xfrm>
          <a:off x="290341" y="1181156"/>
          <a:ext cx="10645288" cy="545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1322"/>
                <a:gridCol w="3166175"/>
                <a:gridCol w="2156469"/>
                <a:gridCol w="2661322"/>
              </a:tblGrid>
              <a:tr h="429393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核心规格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工作量（约）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</a:tr>
              <a:tr h="658169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unisee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iOS</a:t>
                      </a:r>
                      <a:r>
                        <a:rPr lang="zh-CN" altLang="en-US" dirty="0" smtClean="0"/>
                        <a:t>、安卓、鸿蒙</a:t>
                      </a:r>
                      <a:r>
                        <a:rPr lang="en-US" altLang="zh-CN" dirty="0" smtClean="0"/>
                        <a:t>next </a:t>
                      </a:r>
                      <a:r>
                        <a:rPr lang="zh-CN" altLang="en-US" dirty="0" smtClean="0"/>
                        <a:t>三端原生</a:t>
                      </a:r>
                      <a:r>
                        <a:rPr lang="en-US" altLang="zh-CN" dirty="0" err="1" smtClean="0"/>
                        <a:t>sdk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人月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原生或者</a:t>
                      </a:r>
                      <a:r>
                        <a:rPr lang="en-US" altLang="zh-CN" dirty="0" smtClean="0"/>
                        <a:t>flutter</a:t>
                      </a:r>
                      <a:endParaRPr lang="zh-CN" altLang="en-US" dirty="0"/>
                    </a:p>
                  </a:txBody>
                  <a:tcPr/>
                </a:tc>
              </a:tr>
              <a:tr h="38132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接口优化</a:t>
                      </a:r>
                      <a:r>
                        <a:rPr lang="en-US" altLang="zh-CN" dirty="0" smtClean="0"/>
                        <a:t>+Demo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人月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优化初始化接口</a:t>
                      </a:r>
                      <a:endParaRPr lang="zh-CN" altLang="en-US" dirty="0"/>
                    </a:p>
                  </a:txBody>
                  <a:tcPr/>
                </a:tc>
              </a:tr>
              <a:tr h="658169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配网</a:t>
                      </a:r>
                      <a:r>
                        <a:rPr lang="en-US" altLang="zh-CN" dirty="0" err="1" smtClean="0"/>
                        <a:t>sdk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人月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蓝牙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en-US" altLang="zh-CN" dirty="0" err="1" smtClean="0"/>
                        <a:t>ap</a:t>
                      </a:r>
                      <a:r>
                        <a:rPr lang="zh-CN" altLang="en-US" dirty="0" smtClean="0"/>
                        <a:t>配网自动发现、</a:t>
                      </a:r>
                      <a:r>
                        <a:rPr lang="en-US" altLang="zh-CN" dirty="0" err="1" smtClean="0"/>
                        <a:t>wifi</a:t>
                      </a:r>
                      <a:r>
                        <a:rPr lang="zh-CN" altLang="en-US" dirty="0" smtClean="0"/>
                        <a:t>信息下发</a:t>
                      </a:r>
                      <a:endParaRPr lang="zh-CN" altLang="en-US" dirty="0"/>
                    </a:p>
                  </a:txBody>
                  <a:tcPr/>
                </a:tc>
              </a:tr>
              <a:tr h="38132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基础软件（播放器）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支持</a:t>
                      </a:r>
                      <a:r>
                        <a:rPr lang="en-US" altLang="zh-CN" dirty="0" smtClean="0"/>
                        <a:t>TV GPU</a:t>
                      </a:r>
                      <a:r>
                        <a:rPr lang="zh-CN" altLang="en-US" dirty="0" smtClean="0"/>
                        <a:t>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11</a:t>
                      </a:r>
                      <a:r>
                        <a:rPr lang="zh-CN" altLang="en-US" dirty="0" smtClean="0"/>
                        <a:t>人月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海尔</a:t>
                      </a:r>
                      <a:r>
                        <a:rPr lang="en-US" altLang="zh-CN" dirty="0" err="1" smtClean="0"/>
                        <a:t>tv</a:t>
                      </a:r>
                      <a:r>
                        <a:rPr lang="zh-CN" altLang="en-US" dirty="0" smtClean="0"/>
                        <a:t>上支持</a:t>
                      </a:r>
                      <a:r>
                        <a:rPr lang="en-US" altLang="zh-CN" dirty="0" err="1" smtClean="0"/>
                        <a:t>gpu</a:t>
                      </a:r>
                      <a:r>
                        <a:rPr lang="zh-CN" altLang="en-US" dirty="0" smtClean="0"/>
                        <a:t>解码</a:t>
                      </a:r>
                      <a:endParaRPr lang="zh-CN" altLang="en-US" dirty="0"/>
                    </a:p>
                  </a:txBody>
                  <a:tcPr/>
                </a:tc>
              </a:tr>
              <a:tr h="38132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支持音频</a:t>
                      </a:r>
                      <a:r>
                        <a:rPr lang="en-US" altLang="zh-CN" dirty="0" smtClean="0"/>
                        <a:t>3A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人月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引入研究院算法</a:t>
                      </a:r>
                      <a:endParaRPr lang="zh-CN" altLang="en-US" dirty="0"/>
                    </a:p>
                  </a:txBody>
                  <a:tcPr/>
                </a:tc>
              </a:tr>
              <a:tr h="38132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设备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优化</a:t>
                      </a:r>
                      <a:r>
                        <a:rPr lang="en-US" altLang="zh-CN" dirty="0" err="1" smtClean="0">
                          <a:solidFill>
                            <a:srgbClr val="FF0000"/>
                          </a:solidFill>
                        </a:rPr>
                        <a:t>wifi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配网方式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？人月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658169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对接海尔</a:t>
                      </a:r>
                      <a:r>
                        <a:rPr lang="zh-CN" altLang="en-US" dirty="0" smtClean="0"/>
                        <a:t>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r>
                        <a:rPr lang="zh-CN" altLang="en-US" dirty="0" smtClean="0"/>
                        <a:t>人</a:t>
                      </a:r>
                      <a:r>
                        <a:rPr lang="zh-CN" altLang="en-US" dirty="0" smtClean="0"/>
                        <a:t>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海尔物模型、事件、云存、分享</a:t>
                      </a:r>
                      <a:endParaRPr lang="zh-CN" altLang="en-US" dirty="0"/>
                    </a:p>
                  </a:txBody>
                  <a:tcPr/>
                </a:tc>
              </a:tr>
              <a:tr h="38132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私有化部署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人月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  <a:tr h="38132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其他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人月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  <a:tr h="38132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测试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人月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  <a:tr h="38132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总计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26</a:t>
                      </a:r>
                      <a:r>
                        <a:rPr lang="zh-CN" altLang="en-US" dirty="0" smtClean="0"/>
                        <a:t>人</a:t>
                      </a:r>
                      <a:r>
                        <a:rPr lang="zh-CN" altLang="en-US" dirty="0" smtClean="0"/>
                        <a:t>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8097722"/>
      </p:ext>
    </p:extLst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/>
        </p:nvSpPr>
        <p:spPr>
          <a:xfrm>
            <a:off x="4272839" y="5053660"/>
            <a:ext cx="1477015" cy="16445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95949" y="2949406"/>
            <a:ext cx="6724144" cy="16445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90343" y="238889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2982B6"/>
                </a:solidFill>
                <a:latin typeface="+mj-ea"/>
                <a:ea typeface="+mj-ea"/>
              </a:rPr>
              <a:t>海尔音视频云长期建设</a:t>
            </a:r>
          </a:p>
        </p:txBody>
      </p:sp>
      <p:sp>
        <p:nvSpPr>
          <p:cNvPr id="2" name="云形 1"/>
          <p:cNvSpPr/>
          <p:nvPr/>
        </p:nvSpPr>
        <p:spPr>
          <a:xfrm>
            <a:off x="1563428" y="3301971"/>
            <a:ext cx="3292697" cy="1038407"/>
          </a:xfrm>
          <a:prstGeom prst="cloud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海尔智家云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1724056" y="5151131"/>
            <a:ext cx="784746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冰箱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1738467" y="5984894"/>
            <a:ext cx="784746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空调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1724056" y="5572048"/>
            <a:ext cx="930322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洗衣机</a:t>
            </a:r>
          </a:p>
        </p:txBody>
      </p:sp>
      <p:sp>
        <p:nvSpPr>
          <p:cNvPr id="39" name="圆角矩形 38"/>
          <p:cNvSpPr/>
          <p:nvPr/>
        </p:nvSpPr>
        <p:spPr>
          <a:xfrm>
            <a:off x="4272840" y="5101005"/>
            <a:ext cx="1455224" cy="883889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海尔设备端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（可支持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360/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中维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宇视链路）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842298" y="823664"/>
            <a:ext cx="4484930" cy="10873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海尔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385448" y="2953953"/>
            <a:ext cx="1456849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海尔云平台</a:t>
            </a: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2130840" y="4254256"/>
            <a:ext cx="1" cy="76598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2040670" y="1909880"/>
            <a:ext cx="0" cy="140840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040670" y="198697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海尔用户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设备资源</a:t>
            </a: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4587038" y="1909880"/>
            <a:ext cx="0" cy="146601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 flipH="1" flipV="1">
            <a:off x="4587038" y="4100633"/>
            <a:ext cx="9805" cy="86891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7413851" y="2114369"/>
            <a:ext cx="4582199" cy="1993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宇视可协助海尔制定客户端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、设备端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接口标准，完善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交付件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海尔可对外提供自身标准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，供第三方设备接入，对接都是同一套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优化音视频平台能力，云端控制切换链路选择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360/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中维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宇视，形成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海尔更可自主控制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的能力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xmlns="" id="{AB42AB42-132C-436A-8312-19B6A9F03912}"/>
              </a:ext>
            </a:extLst>
          </p:cNvPr>
          <p:cNvSpPr txBox="1"/>
          <p:nvPr/>
        </p:nvSpPr>
        <p:spPr>
          <a:xfrm>
            <a:off x="7326368" y="1632984"/>
            <a:ext cx="4371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+mj-ea"/>
                <a:ea typeface="+mj-ea"/>
              </a:rPr>
              <a:t>海尔自研音视频平台可支持多厂商设备接入</a:t>
            </a:r>
            <a:endParaRPr lang="en-US" altLang="zh-CN" sz="1600" dirty="0">
              <a:latin typeface="+mj-ea"/>
              <a:ea typeface="+mj-ea"/>
            </a:endParaRPr>
          </a:p>
        </p:txBody>
      </p:sp>
      <p:sp>
        <p:nvSpPr>
          <p:cNvPr id="30" name="圆角矩形 38">
            <a:extLst>
              <a:ext uri="{FF2B5EF4-FFF2-40B4-BE49-F238E27FC236}">
                <a16:creationId xmlns:a16="http://schemas.microsoft.com/office/drawing/2014/main" xmlns="" id="{E06DC7D1-9F55-4EB2-A2A0-B6569ED3A6A4}"/>
              </a:ext>
            </a:extLst>
          </p:cNvPr>
          <p:cNvSpPr/>
          <p:nvPr/>
        </p:nvSpPr>
        <p:spPr>
          <a:xfrm>
            <a:off x="4272838" y="6047135"/>
            <a:ext cx="1455224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相机软件层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xmlns="" id="{6CABFCB9-F352-446F-A2AB-F8D38C1534CD}"/>
              </a:ext>
            </a:extLst>
          </p:cNvPr>
          <p:cNvSpPr txBox="1"/>
          <p:nvPr/>
        </p:nvSpPr>
        <p:spPr>
          <a:xfrm>
            <a:off x="4645714" y="4683642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第三方相机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86675375-1B0C-4D81-B7C0-3667CAC23FD0}"/>
              </a:ext>
            </a:extLst>
          </p:cNvPr>
          <p:cNvSpPr txBox="1"/>
          <p:nvPr/>
        </p:nvSpPr>
        <p:spPr>
          <a:xfrm>
            <a:off x="4805761" y="4005505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云端控制链路切换</a:t>
            </a:r>
          </a:p>
        </p:txBody>
      </p:sp>
      <p:sp>
        <p:nvSpPr>
          <p:cNvPr id="44" name="圆角矩形 38">
            <a:extLst>
              <a:ext uri="{FF2B5EF4-FFF2-40B4-BE49-F238E27FC236}">
                <a16:creationId xmlns:a16="http://schemas.microsoft.com/office/drawing/2014/main" xmlns="" id="{041258E9-8742-4596-996C-05E986A2C863}"/>
              </a:ext>
            </a:extLst>
          </p:cNvPr>
          <p:cNvSpPr/>
          <p:nvPr/>
        </p:nvSpPr>
        <p:spPr>
          <a:xfrm>
            <a:off x="4856126" y="1002645"/>
            <a:ext cx="1368068" cy="883889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海尔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（可支持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360/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中维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宇视链路）</a:t>
            </a:r>
          </a:p>
        </p:txBody>
      </p:sp>
      <p:sp>
        <p:nvSpPr>
          <p:cNvPr id="46" name="圆角矩形 38">
            <a:extLst>
              <a:ext uri="{FF2B5EF4-FFF2-40B4-BE49-F238E27FC236}">
                <a16:creationId xmlns:a16="http://schemas.microsoft.com/office/drawing/2014/main" xmlns="" id="{85A44239-3197-466E-87B6-501408821C9F}"/>
              </a:ext>
            </a:extLst>
          </p:cNvPr>
          <p:cNvSpPr/>
          <p:nvPr/>
        </p:nvSpPr>
        <p:spPr>
          <a:xfrm>
            <a:off x="4272838" y="6383617"/>
            <a:ext cx="1455224" cy="3480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0745973"/>
      </p:ext>
    </p:extLst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290343" y="238889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长期建设（海尔诉求）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676462"/>
              </p:ext>
            </p:extLst>
          </p:nvPr>
        </p:nvGraphicFramePr>
        <p:xfrm>
          <a:off x="290343" y="996177"/>
          <a:ext cx="9678847" cy="4418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6282"/>
                <a:gridCol w="4145290"/>
                <a:gridCol w="2307275"/>
              </a:tblGrid>
              <a:tr h="46185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核心诉求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提供形式</a:t>
                      </a:r>
                      <a:endParaRPr lang="zh-CN" altLang="en-US" dirty="0"/>
                    </a:p>
                  </a:txBody>
                  <a:tcPr/>
                </a:tc>
              </a:tr>
              <a:tr h="4460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移动端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弱网对抗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库</a:t>
                      </a:r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源码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6049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播放相关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库</a:t>
                      </a:r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源码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6049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安全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库</a:t>
                      </a:r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源码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6049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音频增强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库</a:t>
                      </a:r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源码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6049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自适应与流控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库</a:t>
                      </a:r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源码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60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设备端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SD</a:t>
                      </a:r>
                      <a:r>
                        <a:rPr lang="zh-CN" altLang="en-US" dirty="0" smtClean="0"/>
                        <a:t>卡存储</a:t>
                      </a:r>
                      <a:endParaRPr lang="en-US" altLang="zh-C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库</a:t>
                      </a:r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源码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6049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网络、音频、流控、安全</a:t>
                      </a:r>
                      <a:endParaRPr lang="en-US" altLang="zh-C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库</a:t>
                      </a:r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dirty="0" smtClean="0">
                          <a:solidFill>
                            <a:schemeClr val="tx1"/>
                          </a:solidFill>
                        </a:rPr>
                        <a:t>源码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4604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总体</a:t>
                      </a:r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将宇视在音视频领域核心技术能已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源码</a:t>
                      </a:r>
                      <a:r>
                        <a:rPr lang="zh-CN" altLang="en-US" dirty="0" smtClean="0"/>
                        <a:t>方式提供给海尔，并能够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按库接口快速</a:t>
                      </a:r>
                      <a:r>
                        <a:rPr lang="zh-CN" altLang="en-US" dirty="0" smtClean="0"/>
                        <a:t>整合到海尔的音视频平台中。</a:t>
                      </a:r>
                      <a:endParaRPr lang="en-US" altLang="zh-CN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469934"/>
      </p:ext>
    </p:extLst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290343" y="238889"/>
            <a:ext cx="907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2982B6"/>
                </a:solidFill>
                <a:latin typeface="+mj-ea"/>
                <a:ea typeface="+mj-ea"/>
              </a:rPr>
              <a:t>长期建设（我司需要新开发）</a:t>
            </a:r>
            <a:endParaRPr lang="zh-CN" altLang="en-US" sz="3200" dirty="0">
              <a:solidFill>
                <a:srgbClr val="2982B6"/>
              </a:solidFill>
              <a:latin typeface="+mj-ea"/>
              <a:ea typeface="+mj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271937"/>
              </p:ext>
            </p:extLst>
          </p:nvPr>
        </p:nvGraphicFramePr>
        <p:xfrm>
          <a:off x="201132" y="731831"/>
          <a:ext cx="10645288" cy="6033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1322"/>
                <a:gridCol w="3419400"/>
                <a:gridCol w="1903244"/>
                <a:gridCol w="2661322"/>
              </a:tblGrid>
              <a:tr h="408645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核心规格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工作量（约）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</a:tr>
              <a:tr h="870217">
                <a:tc rowSpan="6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移动端功能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弱网对抗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r>
                        <a:rPr lang="zh-CN" altLang="en-US" dirty="0" smtClean="0"/>
                        <a:t>人月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大部分已支持</a:t>
                      </a:r>
                      <a:endParaRPr lang="en-US" altLang="zh-CN" dirty="0" smtClean="0"/>
                    </a:p>
                    <a:p>
                      <a:pPr algn="ctr"/>
                      <a:r>
                        <a:rPr lang="zh-CN" altLang="en-US" dirty="0" smtClean="0"/>
                        <a:t>（去掉</a:t>
                      </a:r>
                      <a:r>
                        <a:rPr lang="en-US" altLang="zh-CN" dirty="0" err="1" smtClean="0"/>
                        <a:t>fec</a:t>
                      </a:r>
                      <a:r>
                        <a:rPr lang="zh-CN" altLang="en-US" dirty="0" smtClean="0"/>
                        <a:t>和</a:t>
                      </a:r>
                      <a:r>
                        <a:rPr lang="en-US" altLang="zh-CN" dirty="0" err="1" smtClean="0"/>
                        <a:t>bwe</a:t>
                      </a:r>
                      <a:r>
                        <a:rPr lang="zh-CN" altLang="en-US" dirty="0" smtClean="0"/>
                        <a:t>）按我们目前实现即可</a:t>
                      </a:r>
                      <a:endParaRPr lang="zh-CN" altLang="en-US" dirty="0"/>
                    </a:p>
                  </a:txBody>
                  <a:tcPr/>
                </a:tc>
              </a:tr>
              <a:tr h="362895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播放相关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人月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大部分已支持</a:t>
                      </a:r>
                      <a:endParaRPr lang="zh-CN" altLang="en-US" dirty="0"/>
                    </a:p>
                  </a:txBody>
                  <a:tcPr/>
                </a:tc>
              </a:tr>
              <a:tr h="348087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安全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已支持</a:t>
                      </a:r>
                      <a:endParaRPr lang="zh-CN" altLang="en-US" dirty="0"/>
                    </a:p>
                  </a:txBody>
                  <a:tcPr/>
                </a:tc>
              </a:tr>
              <a:tr h="348087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音频增强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人月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待支持</a:t>
                      </a:r>
                      <a:endParaRPr lang="zh-CN" altLang="en-US" dirty="0"/>
                    </a:p>
                  </a:txBody>
                  <a:tcPr/>
                </a:tc>
              </a:tr>
              <a:tr h="412518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自适应与流控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r>
                        <a:rPr lang="zh-CN" altLang="en-US" dirty="0" smtClean="0"/>
                        <a:t>人月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大部分支持</a:t>
                      </a:r>
                      <a:endParaRPr lang="zh-CN" altLang="en-US" dirty="0"/>
                    </a:p>
                  </a:txBody>
                  <a:tcPr/>
                </a:tc>
              </a:tr>
              <a:tr h="609152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GPU</a:t>
                      </a:r>
                      <a:r>
                        <a:rPr lang="zh-CN" altLang="en-US" dirty="0" smtClean="0"/>
                        <a:t>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待评估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安卓端主流款型支持硬解码</a:t>
                      </a:r>
                      <a:endParaRPr lang="zh-CN" altLang="en-US" dirty="0"/>
                    </a:p>
                  </a:txBody>
                  <a:tcPr/>
                </a:tc>
              </a:tr>
              <a:tr h="36289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设备端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功能同移动端（</a:t>
                      </a:r>
                      <a:r>
                        <a:rPr lang="en-US" altLang="zh-CN" dirty="0" smtClean="0"/>
                        <a:t>GPU</a:t>
                      </a:r>
                      <a:r>
                        <a:rPr lang="zh-CN" altLang="en-US" dirty="0" smtClean="0"/>
                        <a:t>解码除外）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r>
                        <a:rPr lang="zh-CN" altLang="en-US" dirty="0" smtClean="0"/>
                        <a:t>人月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  <a:tr h="362895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SD</a:t>
                      </a:r>
                      <a:r>
                        <a:rPr lang="zh-CN" altLang="en-US" dirty="0" smtClean="0"/>
                        <a:t>卡存储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r>
                        <a:rPr lang="zh-CN" altLang="en-US" dirty="0" smtClean="0"/>
                        <a:t>人月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读写优化、块存储</a:t>
                      </a:r>
                      <a:endParaRPr lang="zh-CN" altLang="en-US" dirty="0"/>
                    </a:p>
                  </a:txBody>
                  <a:tcPr/>
                </a:tc>
              </a:tr>
              <a:tr h="36289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产品化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移动端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人月</a:t>
                      </a:r>
                      <a:endParaRPr lang="zh-CN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接口封装、库裁减、多种系统适配</a:t>
                      </a:r>
                      <a:endParaRPr lang="zh-CN" altLang="en-US" dirty="0"/>
                    </a:p>
                  </a:txBody>
                  <a:tcPr/>
                </a:tc>
              </a:tr>
              <a:tr h="362895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设备端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人月</a:t>
                      </a: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  <a:tr h="36289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其他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r>
                        <a:rPr lang="zh-CN" altLang="en-US" dirty="0" smtClean="0"/>
                        <a:t>人月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  <a:tr h="36289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源码提供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r>
                        <a:rPr lang="zh-CN" altLang="en-US" dirty="0" smtClean="0"/>
                        <a:t>人月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源码</a:t>
                      </a:r>
                      <a:r>
                        <a:rPr lang="zh-CN" altLang="en-US" smtClean="0"/>
                        <a:t>剥离、库</a:t>
                      </a:r>
                      <a:r>
                        <a:rPr lang="zh-CN" altLang="en-US" dirty="0" smtClean="0"/>
                        <a:t>模式</a:t>
                      </a:r>
                      <a:endParaRPr lang="zh-CN" altLang="en-US" dirty="0"/>
                    </a:p>
                  </a:txBody>
                  <a:tcPr/>
                </a:tc>
              </a:tr>
              <a:tr h="139457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32+x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245115"/>
      </p:ext>
    </p:extLst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自定义 5">
      <a:dk1>
        <a:srgbClr val="3A3838"/>
      </a:dk1>
      <a:lt1>
        <a:srgbClr val="FFFFFF"/>
      </a:lt1>
      <a:dk2>
        <a:srgbClr val="262626"/>
      </a:dk2>
      <a:lt2>
        <a:srgbClr val="E7E6E6"/>
      </a:lt2>
      <a:accent1>
        <a:srgbClr val="0099D6"/>
      </a:accent1>
      <a:accent2>
        <a:srgbClr val="0082B6"/>
      </a:accent2>
      <a:accent3>
        <a:srgbClr val="0050A0"/>
      </a:accent3>
      <a:accent4>
        <a:srgbClr val="000A89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思源黑体 CN Bold"/>
        <a:cs typeface=""/>
      </a:majorFont>
      <a:minorFont>
        <a:latin typeface="Arial"/>
        <a:ea typeface="思源黑体 CN Regular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1587</TotalTime>
  <Words>765</Words>
  <Application>Microsoft Office PowerPoint</Application>
  <PresentationFormat>宽屏</PresentationFormat>
  <Paragraphs>185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等线</vt:lpstr>
      <vt:lpstr>等线 Light</vt:lpstr>
      <vt:lpstr>思源黑体 CN Bold</vt:lpstr>
      <vt:lpstr>思源黑体 CN Regular</vt:lpstr>
      <vt:lpstr>微软雅黑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lizhen</dc:creator>
  <cp:lastModifiedBy>Microsoft 帐户</cp:lastModifiedBy>
  <cp:revision>226</cp:revision>
  <dcterms:created xsi:type="dcterms:W3CDTF">2018-08-24T03:35:00Z</dcterms:created>
  <dcterms:modified xsi:type="dcterms:W3CDTF">2026-09-11T10:11:21Z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