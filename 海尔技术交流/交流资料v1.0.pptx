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96" r:id="rId2"/>
    <p:sldId id="644" r:id="rId3"/>
    <p:sldId id="645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2B6"/>
    <a:srgbClr val="2E65A6"/>
    <a:srgbClr val="2E3092"/>
    <a:srgbClr val="F79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91" autoAdjust="0"/>
  </p:normalViewPr>
  <p:slideViewPr>
    <p:cSldViewPr snapToGrid="0">
      <p:cViewPr varScale="1">
        <p:scale>
          <a:sx n="100" d="100"/>
          <a:sy n="100" d="100"/>
        </p:scale>
        <p:origin x="12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109A-1DE1-4E9D-AA10-EB1F668BE52D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6659-5B36-47D4-94B0-C6A1D9475F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41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05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宇视私有化，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配置要求：</a:t>
            </a:r>
            <a:endParaRPr lang="en-US" altLang="zh-CN" sz="1200" kern="1200" dirty="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台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16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核服务器，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10w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设备。</a:t>
            </a:r>
            <a:endParaRPr lang="en-US" altLang="zh-CN" sz="1200" kern="1200" dirty="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定制项目：</a:t>
            </a:r>
            <a:endParaRPr lang="en-US" altLang="zh-CN" sz="1200" kern="1200" dirty="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50+ 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海内外，总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100w+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设备</a:t>
            </a:r>
            <a:endParaRPr lang="en-US" altLang="zh-CN" sz="1200" kern="1200" dirty="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199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363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29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gradFill>
          <a:gsLst>
            <a:gs pos="0">
              <a:schemeClr val="bg1"/>
            </a:gs>
            <a:gs pos="100000">
              <a:schemeClr val="accent2">
                <a:alpha val="0"/>
                <a:lumMod val="64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294" y="0"/>
            <a:ext cx="3787775" cy="3236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F3269-A4F5-441A-83F3-4CF4FE125111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4251278" y="5127234"/>
            <a:ext cx="3254278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031614" y="5131405"/>
            <a:ext cx="3118183" cy="1037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肘形连接符 60"/>
          <p:cNvCxnSpPr/>
          <p:nvPr/>
        </p:nvCxnSpPr>
        <p:spPr>
          <a:xfrm>
            <a:off x="5768708" y="1845224"/>
            <a:ext cx="1757319" cy="3562701"/>
          </a:xfrm>
          <a:prstGeom prst="bentConnector3">
            <a:avLst>
              <a:gd name="adj1" fmla="val 113008"/>
            </a:avLst>
          </a:prstGeom>
          <a:ln w="254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781412" y="3022979"/>
            <a:ext cx="6724144" cy="16445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短期快速接入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云形 1"/>
          <p:cNvSpPr/>
          <p:nvPr/>
        </p:nvSpPr>
        <p:spPr>
          <a:xfrm>
            <a:off x="781412" y="3364174"/>
            <a:ext cx="3292697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+mj-ea"/>
                <a:ea typeface="+mj-ea"/>
              </a:rPr>
              <a:t>海尔智家云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云形 2"/>
          <p:cNvSpPr/>
          <p:nvPr/>
        </p:nvSpPr>
        <p:spPr>
          <a:xfrm>
            <a:off x="4855616" y="3449472"/>
            <a:ext cx="2064051" cy="7438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+mj-ea"/>
                <a:ea typeface="+mj-ea"/>
              </a:rPr>
              <a:t>宇视私有云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70372" y="5233916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冰箱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2073399" y="5233916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空调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2976426" y="5250975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洗衣机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2056417" y="5710449"/>
            <a:ext cx="801728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+mj-ea"/>
                <a:ea typeface="+mj-ea"/>
              </a:rPr>
              <a:t>…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341201" y="5250975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摇头机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407037" y="5240740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卡片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机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384162" y="5233916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+mj-ea"/>
                <a:ea typeface="+mj-ea"/>
              </a:rPr>
              <a:t>…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427761" y="1471641"/>
            <a:ext cx="3331100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海尔</a:t>
            </a:r>
            <a:r>
              <a:rPr lang="en-US" altLang="zh-CN" dirty="0" smtClean="0">
                <a:solidFill>
                  <a:schemeClr val="tx1"/>
                </a:solidFill>
                <a:latin typeface="+mj-ea"/>
                <a:ea typeface="+mj-ea"/>
              </a:rPr>
              <a:t>APP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150031" y="3016156"/>
            <a:ext cx="1048603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海尔云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427760" y="4381500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702257" y="1955766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626133" y="20605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j-ea"/>
                <a:ea typeface="+mj-ea"/>
              </a:rPr>
              <a:t>海尔用户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zh-CN" altLang="en-US" dirty="0" smtClean="0">
                <a:latin typeface="+mj-ea"/>
                <a:ea typeface="+mj-ea"/>
              </a:rPr>
              <a:t>设备资源</a:t>
            </a:r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5172501" y="1983453"/>
            <a:ext cx="0" cy="14660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172501" y="2043220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j-ea"/>
                <a:ea typeface="+mj-ea"/>
              </a:rPr>
              <a:t>绑定相机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zh-CN" altLang="en-US" dirty="0" smtClean="0">
                <a:latin typeface="+mj-ea"/>
                <a:ea typeface="+mj-ea"/>
              </a:rPr>
              <a:t>操作相机</a:t>
            </a:r>
            <a:endParaRPr lang="en-US" altLang="zh-CN" dirty="0" smtClean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4116188" y="3779672"/>
            <a:ext cx="71213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095797" y="3825171"/>
            <a:ext cx="849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+mj-ea"/>
                <a:ea typeface="+mj-ea"/>
              </a:rPr>
              <a:t>子账号</a:t>
            </a:r>
            <a:r>
              <a:rPr lang="en-US" altLang="zh-CN" sz="1000" dirty="0" smtClean="0">
                <a:latin typeface="+mj-ea"/>
                <a:ea typeface="+mj-ea"/>
              </a:rPr>
              <a:t>ID</a:t>
            </a:r>
            <a:r>
              <a:rPr lang="zh-CN" altLang="en-US" sz="1000" dirty="0" smtClean="0">
                <a:latin typeface="+mj-ea"/>
                <a:ea typeface="+mj-ea"/>
              </a:rPr>
              <a:t>，</a:t>
            </a:r>
            <a:endParaRPr lang="en-US" altLang="zh-CN" sz="1000" dirty="0" smtClean="0">
              <a:latin typeface="+mj-ea"/>
              <a:ea typeface="+mj-ea"/>
            </a:endParaRPr>
          </a:p>
          <a:p>
            <a:r>
              <a:rPr lang="zh-CN" altLang="en-US" sz="1000" dirty="0" smtClean="0">
                <a:latin typeface="+mj-ea"/>
                <a:ea typeface="+mj-ea"/>
              </a:rPr>
              <a:t>无用户信息</a:t>
            </a:r>
            <a:endParaRPr lang="zh-CN" altLang="en-US" sz="1000" dirty="0">
              <a:latin typeface="+mj-ea"/>
              <a:ea typeface="+mj-ea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H="1" flipV="1">
            <a:off x="5547360" y="4278574"/>
            <a:ext cx="9805" cy="8689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4840659" y="1767386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宇</a:t>
            </a:r>
            <a:r>
              <a:rPr lang="zh-CN" altLang="en-US" sz="1000" dirty="0" smtClean="0">
                <a:solidFill>
                  <a:schemeClr val="tx1"/>
                </a:solidFill>
                <a:latin typeface="+mj-ea"/>
                <a:ea typeface="+mj-ea"/>
              </a:rPr>
              <a:t>视</a:t>
            </a:r>
            <a:r>
              <a:rPr lang="en-US" altLang="zh-CN" sz="1000" dirty="0" err="1" smtClean="0">
                <a:solidFill>
                  <a:schemeClr val="tx1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027861" y="14865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音</a:t>
            </a:r>
            <a:r>
              <a:rPr lang="zh-CN" altLang="en-US" dirty="0" smtClean="0">
                <a:latin typeface="+mj-ea"/>
                <a:ea typeface="+mj-ea"/>
              </a:rPr>
              <a:t>视频流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2903865" y="3779672"/>
            <a:ext cx="762947" cy="3551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rgbClr val="FF0000"/>
                </a:solidFill>
                <a:latin typeface="+mj-ea"/>
                <a:ea typeface="+mj-ea"/>
              </a:rPr>
              <a:t>相机和用户关联</a:t>
            </a:r>
            <a:endParaRPr lang="zh-CN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191951" y="1181246"/>
            <a:ext cx="39356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j-ea"/>
                <a:ea typeface="+mj-ea"/>
              </a:rPr>
              <a:t>设备、接入、音视频相关责任明确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zh-CN" altLang="en-US" dirty="0" smtClean="0">
                <a:latin typeface="+mj-ea"/>
                <a:ea typeface="+mj-ea"/>
              </a:rPr>
              <a:t>宇视兜底。</a:t>
            </a:r>
            <a:endParaRPr lang="en-US" altLang="zh-CN" dirty="0" smtClean="0"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j-ea"/>
                <a:ea typeface="+mj-ea"/>
              </a:rPr>
              <a:t>接入工作量少，</a:t>
            </a:r>
            <a:r>
              <a:rPr lang="en-US" altLang="zh-CN" dirty="0" smtClean="0">
                <a:latin typeface="+mj-ea"/>
                <a:ea typeface="+mj-ea"/>
              </a:rPr>
              <a:t>1~2</a:t>
            </a:r>
            <a:r>
              <a:rPr lang="zh-CN" altLang="en-US" dirty="0" smtClean="0">
                <a:latin typeface="+mj-ea"/>
                <a:ea typeface="+mj-ea"/>
              </a:rPr>
              <a:t>月</a:t>
            </a:r>
            <a:endParaRPr lang="en-US" altLang="zh-CN" dirty="0" smtClean="0">
              <a:latin typeface="+mj-ea"/>
              <a:ea typeface="+mj-ea"/>
            </a:endParaRPr>
          </a:p>
          <a:p>
            <a:endParaRPr lang="en-US" altLang="zh-CN" dirty="0" smtClean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6818074" y="4926841"/>
            <a:ext cx="3219854" cy="9144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568069" y="4926841"/>
            <a:ext cx="2935348" cy="12010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3748" y="4926842"/>
            <a:ext cx="3118183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80030" y="3022979"/>
            <a:ext cx="9354833" cy="16445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273021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中期混合并行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云形 1"/>
          <p:cNvSpPr/>
          <p:nvPr/>
        </p:nvSpPr>
        <p:spPr>
          <a:xfrm>
            <a:off x="3210719" y="3364174"/>
            <a:ext cx="3292697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海尔智家</a:t>
            </a:r>
            <a:endParaRPr lang="zh-CN" altLang="en-US" dirty="0"/>
          </a:p>
        </p:txBody>
      </p:sp>
      <p:sp>
        <p:nvSpPr>
          <p:cNvPr id="3" name="云形 2"/>
          <p:cNvSpPr/>
          <p:nvPr/>
        </p:nvSpPr>
        <p:spPr>
          <a:xfrm>
            <a:off x="7284923" y="3449472"/>
            <a:ext cx="2064051" cy="7438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宇视私有化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3599679" y="5233916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冰箱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4502706" y="5233916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空调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375199" y="5247562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洗衣机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4485724" y="5710449"/>
            <a:ext cx="801728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968403" y="5250975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摇头机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7986472" y="5233916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卡片</a:t>
            </a:r>
            <a:r>
              <a:rPr lang="zh-CN" altLang="en-US" dirty="0" smtClean="0">
                <a:solidFill>
                  <a:schemeClr val="tx1"/>
                </a:solidFill>
              </a:rPr>
              <a:t>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004541" y="5233916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954781" y="1164859"/>
            <a:ext cx="4031692" cy="793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海尔</a:t>
            </a:r>
            <a:r>
              <a:rPr lang="en-US" altLang="zh-CN" dirty="0" smtClean="0">
                <a:solidFill>
                  <a:schemeClr val="tx1"/>
                </a:solidFill>
                <a:latin typeface="+mj-ea"/>
                <a:ea typeface="+mj-ea"/>
              </a:rPr>
              <a:t>APP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45910" y="3033780"/>
            <a:ext cx="1048603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海尔云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5131564" y="4403700"/>
            <a:ext cx="0" cy="4645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131564" y="1955766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055440" y="20605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海尔用户</a:t>
            </a:r>
            <a:endParaRPr lang="en-US" altLang="zh-CN" dirty="0" smtClean="0"/>
          </a:p>
          <a:p>
            <a:r>
              <a:rPr lang="zh-CN" altLang="en-US" dirty="0" smtClean="0"/>
              <a:t>设备资源</a:t>
            </a:r>
            <a:endParaRPr lang="zh-CN" altLang="en-US" dirty="0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7601808" y="1983453"/>
            <a:ext cx="0" cy="146601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601808" y="2043220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绑定相机</a:t>
            </a:r>
            <a:endParaRPr lang="en-US" altLang="zh-CN" dirty="0" smtClean="0"/>
          </a:p>
          <a:p>
            <a:r>
              <a:rPr lang="zh-CN" altLang="en-US" dirty="0" smtClean="0"/>
              <a:t>操作相机</a:t>
            </a:r>
            <a:endParaRPr lang="en-US" altLang="zh-CN" dirty="0" smtClean="0"/>
          </a:p>
          <a:p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6545495" y="3779672"/>
            <a:ext cx="71213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6525104" y="3825171"/>
            <a:ext cx="849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子账号</a:t>
            </a:r>
            <a:r>
              <a:rPr lang="en-US" altLang="zh-CN" sz="1000" dirty="0" smtClean="0"/>
              <a:t>ID</a:t>
            </a:r>
            <a:r>
              <a:rPr lang="zh-CN" altLang="en-US" sz="1000" dirty="0" smtClean="0"/>
              <a:t>，</a:t>
            </a:r>
            <a:endParaRPr lang="en-US" altLang="zh-CN" sz="1000" dirty="0" smtClean="0"/>
          </a:p>
          <a:p>
            <a:r>
              <a:rPr lang="zh-CN" altLang="en-US" sz="1000" dirty="0" smtClean="0"/>
              <a:t>无用户信息</a:t>
            </a:r>
            <a:endParaRPr lang="zh-CN" altLang="en-US" sz="1000" dirty="0"/>
          </a:p>
        </p:txBody>
      </p:sp>
      <p:cxnSp>
        <p:nvCxnSpPr>
          <p:cNvPr id="51" name="直接箭头连接符 50"/>
          <p:cNvCxnSpPr/>
          <p:nvPr/>
        </p:nvCxnSpPr>
        <p:spPr>
          <a:xfrm flipV="1">
            <a:off x="7986472" y="4407089"/>
            <a:ext cx="0" cy="5197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7072072" y="1740090"/>
            <a:ext cx="914400" cy="2102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宇</a:t>
            </a:r>
            <a:r>
              <a:rPr lang="zh-CN" altLang="en-US" sz="1000" dirty="0" smtClean="0">
                <a:solidFill>
                  <a:schemeClr val="tx1"/>
                </a:solidFill>
                <a:latin typeface="+mj-ea"/>
                <a:ea typeface="+mj-ea"/>
              </a:rPr>
              <a:t>视</a:t>
            </a:r>
            <a:r>
              <a:rPr lang="en-US" altLang="zh-CN" sz="1000" dirty="0" err="1" smtClean="0">
                <a:solidFill>
                  <a:schemeClr val="tx1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5307657" y="3746403"/>
            <a:ext cx="742742" cy="3884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  <a:latin typeface="+mj-ea"/>
                <a:ea typeface="+mj-ea"/>
              </a:rPr>
              <a:t>相机和用户关联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云形 27"/>
          <p:cNvSpPr/>
          <p:nvPr/>
        </p:nvSpPr>
        <p:spPr>
          <a:xfrm>
            <a:off x="1236762" y="3503002"/>
            <a:ext cx="2401882" cy="7438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海尔音视频云</a:t>
            </a:r>
            <a:endParaRPr lang="zh-CN" altLang="en-US" dirty="0"/>
          </a:p>
        </p:txBody>
      </p:sp>
      <p:sp>
        <p:nvSpPr>
          <p:cNvPr id="29" name="圆角矩形 28"/>
          <p:cNvSpPr/>
          <p:nvPr/>
        </p:nvSpPr>
        <p:spPr>
          <a:xfrm>
            <a:off x="470667" y="5233916"/>
            <a:ext cx="930322" cy="3480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摇头机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1488736" y="5233916"/>
            <a:ext cx="930322" cy="3446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卡片</a:t>
            </a:r>
            <a:r>
              <a:rPr lang="zh-CN" altLang="en-US" dirty="0" smtClean="0">
                <a:solidFill>
                  <a:schemeClr val="tx1"/>
                </a:solidFill>
              </a:rPr>
              <a:t>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506805" y="5233916"/>
            <a:ext cx="930322" cy="3446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2340591" y="4318421"/>
            <a:ext cx="4086" cy="6084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/>
        </p:nvSpPr>
        <p:spPr>
          <a:xfrm>
            <a:off x="470667" y="5023648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海尔</a:t>
            </a:r>
            <a:r>
              <a:rPr lang="en-US" altLang="zh-CN" sz="1000" dirty="0" err="1" smtClean="0">
                <a:solidFill>
                  <a:schemeClr val="tx1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496697" y="5024579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海尔</a:t>
            </a:r>
            <a:r>
              <a:rPr lang="en-US" altLang="zh-CN" sz="1000" dirty="0" err="1" smtClean="0">
                <a:solidFill>
                  <a:schemeClr val="tx1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40605" y="1737050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海尔</a:t>
            </a:r>
            <a:r>
              <a:rPr lang="en-US" altLang="zh-CN" sz="1000" dirty="0" err="1" smtClean="0">
                <a:solidFill>
                  <a:schemeClr val="tx1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037928" y="1598881"/>
            <a:ext cx="1742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j-ea"/>
                <a:ea typeface="+mj-ea"/>
              </a:rPr>
              <a:t>完善海尔</a:t>
            </a:r>
            <a:r>
              <a:rPr lang="en-US" altLang="zh-CN" dirty="0" err="1" smtClean="0">
                <a:latin typeface="+mj-ea"/>
                <a:ea typeface="+mj-ea"/>
              </a:rPr>
              <a:t>sdk</a:t>
            </a:r>
            <a:endParaRPr lang="en-US" altLang="zh-CN" dirty="0" smtClean="0"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j-ea"/>
                <a:ea typeface="+mj-ea"/>
              </a:rPr>
              <a:t>设备双平台</a:t>
            </a:r>
            <a:endParaRPr lang="en-US" altLang="zh-CN" dirty="0" smtClean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8468726"/>
      </p:ext>
    </p:extLst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720469" y="4926841"/>
            <a:ext cx="2935348" cy="12010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46148" y="4926842"/>
            <a:ext cx="3118183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732430" y="3022979"/>
            <a:ext cx="6857089" cy="16445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273021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未来自研主导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云形 1"/>
          <p:cNvSpPr/>
          <p:nvPr/>
        </p:nvSpPr>
        <p:spPr>
          <a:xfrm>
            <a:off x="3363119" y="3364174"/>
            <a:ext cx="3292697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海尔智家</a:t>
            </a:r>
            <a:endParaRPr lang="zh-CN" altLang="en-US" dirty="0"/>
          </a:p>
        </p:txBody>
      </p:sp>
      <p:sp>
        <p:nvSpPr>
          <p:cNvPr id="3" name="云形 2"/>
          <p:cNvSpPr/>
          <p:nvPr/>
        </p:nvSpPr>
        <p:spPr>
          <a:xfrm>
            <a:off x="898310" y="3520626"/>
            <a:ext cx="2064051" cy="7438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宇视私有化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3752079" y="5233916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冰箱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4655106" y="5233916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空调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527599" y="5247562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洗衣机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4638124" y="5710449"/>
            <a:ext cx="801728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842261" y="1434572"/>
            <a:ext cx="3917964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海尔</a:t>
            </a:r>
            <a:r>
              <a:rPr lang="en-US" altLang="zh-CN" dirty="0" smtClean="0">
                <a:solidFill>
                  <a:schemeClr val="tx1"/>
                </a:solidFill>
                <a:latin typeface="+mj-ea"/>
                <a:ea typeface="+mj-ea"/>
              </a:rPr>
              <a:t>APP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98310" y="3033780"/>
            <a:ext cx="1048603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海尔云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5283964" y="4403700"/>
            <a:ext cx="0" cy="4645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283964" y="1955766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07840" y="20605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海尔用户</a:t>
            </a:r>
            <a:endParaRPr lang="en-US" altLang="zh-CN" dirty="0" smtClean="0"/>
          </a:p>
          <a:p>
            <a:r>
              <a:rPr lang="zh-CN" altLang="en-US" dirty="0" smtClean="0"/>
              <a:t>设备资源</a:t>
            </a:r>
            <a:endParaRPr lang="zh-CN" altLang="en-US" dirty="0"/>
          </a:p>
        </p:txBody>
      </p:sp>
      <p:sp>
        <p:nvSpPr>
          <p:cNvPr id="53" name="圆角矩形 52"/>
          <p:cNvSpPr/>
          <p:nvPr/>
        </p:nvSpPr>
        <p:spPr>
          <a:xfrm>
            <a:off x="5527599" y="1671586"/>
            <a:ext cx="1218229" cy="275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rgbClr val="FF0000"/>
                </a:solidFill>
                <a:latin typeface="+mj-ea"/>
                <a:ea typeface="+mj-ea"/>
              </a:rPr>
              <a:t>海尔融合</a:t>
            </a:r>
            <a:r>
              <a:rPr lang="en-US" altLang="zh-CN" sz="1000" dirty="0" err="1" smtClean="0">
                <a:solidFill>
                  <a:srgbClr val="FF0000"/>
                </a:solidFill>
                <a:latin typeface="+mj-ea"/>
                <a:ea typeface="+mj-ea"/>
              </a:rPr>
              <a:t>sdk</a:t>
            </a:r>
            <a:endParaRPr lang="en-US" altLang="zh-CN" sz="10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宇</a:t>
            </a:r>
            <a:r>
              <a:rPr lang="zh-CN" altLang="en-US" sz="800" dirty="0" smtClean="0">
                <a:solidFill>
                  <a:srgbClr val="FF0000"/>
                </a:solidFill>
                <a:latin typeface="+mj-ea"/>
                <a:ea typeface="+mj-ea"/>
              </a:rPr>
              <a:t>视、海尔、</a:t>
            </a:r>
            <a:r>
              <a:rPr lang="en-US" altLang="zh-CN" sz="800" dirty="0" smtClean="0">
                <a:solidFill>
                  <a:srgbClr val="FF0000"/>
                </a:solidFill>
                <a:latin typeface="+mj-ea"/>
                <a:ea typeface="+mj-ea"/>
              </a:rPr>
              <a:t>360</a:t>
            </a:r>
            <a:endParaRPr lang="zh-CN" alt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5460057" y="3746403"/>
            <a:ext cx="742742" cy="3884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  <a:latin typeface="+mj-ea"/>
                <a:ea typeface="+mj-ea"/>
              </a:rPr>
              <a:t>相机和用户关联</a:t>
            </a:r>
            <a:endParaRPr lang="zh-CN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云形 27"/>
          <p:cNvSpPr/>
          <p:nvPr/>
        </p:nvSpPr>
        <p:spPr>
          <a:xfrm>
            <a:off x="1389162" y="3503002"/>
            <a:ext cx="2401882" cy="7438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海尔音视频云</a:t>
            </a:r>
            <a:endParaRPr lang="zh-CN" altLang="en-US" dirty="0"/>
          </a:p>
        </p:txBody>
      </p:sp>
      <p:sp>
        <p:nvSpPr>
          <p:cNvPr id="29" name="圆角矩形 28"/>
          <p:cNvSpPr/>
          <p:nvPr/>
        </p:nvSpPr>
        <p:spPr>
          <a:xfrm>
            <a:off x="623067" y="5233916"/>
            <a:ext cx="930322" cy="3480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宇视相机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1641136" y="5233916"/>
            <a:ext cx="930322" cy="3446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中维相机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659205" y="5233916"/>
            <a:ext cx="930322" cy="3446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2492991" y="4318421"/>
            <a:ext cx="4086" cy="6084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/>
        </p:nvSpPr>
        <p:spPr>
          <a:xfrm>
            <a:off x="623067" y="5023648"/>
            <a:ext cx="914400" cy="2102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rgbClr val="FF0000"/>
                </a:solidFill>
                <a:latin typeface="+mj-ea"/>
                <a:ea typeface="+mj-ea"/>
              </a:rPr>
              <a:t>海尔融合</a:t>
            </a:r>
            <a:r>
              <a:rPr lang="en-US" altLang="zh-CN" sz="1000" dirty="0" err="1" smtClean="0">
                <a:solidFill>
                  <a:srgbClr val="FF0000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649097" y="5024579"/>
            <a:ext cx="914400" cy="2102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rgbClr val="FF0000"/>
                </a:solidFill>
                <a:latin typeface="+mj-ea"/>
                <a:ea typeface="+mj-ea"/>
              </a:rPr>
              <a:t>海尔融合</a:t>
            </a:r>
            <a:r>
              <a:rPr lang="en-US" altLang="zh-CN" sz="1000" dirty="0" err="1" smtClean="0">
                <a:solidFill>
                  <a:srgbClr val="FF0000"/>
                </a:solidFill>
                <a:latin typeface="+mj-ea"/>
                <a:ea typeface="+mj-ea"/>
              </a:rPr>
              <a:t>sdk</a:t>
            </a:r>
            <a:endParaRPr lang="zh-CN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859190" y="1486920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+mj-ea"/>
                <a:ea typeface="+mj-ea"/>
              </a:rPr>
              <a:t>自</a:t>
            </a:r>
            <a:r>
              <a:rPr lang="zh-CN" altLang="en-US" dirty="0" smtClean="0">
                <a:latin typeface="+mj-ea"/>
                <a:ea typeface="+mj-ea"/>
              </a:rPr>
              <a:t>研音视频平台支持多厂商设备接入</a:t>
            </a:r>
            <a:endParaRPr lang="en-US" altLang="zh-CN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78247433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自定义 5">
      <a:dk1>
        <a:srgbClr val="3A3838"/>
      </a:dk1>
      <a:lt1>
        <a:srgbClr val="FFFFFF"/>
      </a:lt1>
      <a:dk2>
        <a:srgbClr val="262626"/>
      </a:dk2>
      <a:lt2>
        <a:srgbClr val="E7E6E6"/>
      </a:lt2>
      <a:accent1>
        <a:srgbClr val="0099D6"/>
      </a:accent1>
      <a:accent2>
        <a:srgbClr val="0082B6"/>
      </a:accent2>
      <a:accent3>
        <a:srgbClr val="0050A0"/>
      </a:accent3>
      <a:accent4>
        <a:srgbClr val="000A89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1363</TotalTime>
  <Words>225</Words>
  <Application>Microsoft Office PowerPoint</Application>
  <PresentationFormat>宽屏</PresentationFormat>
  <Paragraphs>82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思源黑体 CN Bold</vt:lpstr>
      <vt:lpstr>思源黑体 CN Regular</vt:lpstr>
      <vt:lpstr>Arial</vt:lpstr>
      <vt:lpstr>Wingdings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lizhen</dc:creator>
  <cp:lastModifiedBy>Microsoft 帐户</cp:lastModifiedBy>
  <cp:revision>159</cp:revision>
  <dcterms:created xsi:type="dcterms:W3CDTF">2018-08-24T03:35:00Z</dcterms:created>
  <dcterms:modified xsi:type="dcterms:W3CDTF">2026-08-19T03:23:09Z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