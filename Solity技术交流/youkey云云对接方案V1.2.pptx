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647" r:id="rId2"/>
    <p:sldId id="652" r:id="rId3"/>
    <p:sldId id="653" r:id="rId4"/>
    <p:sldId id="657" r:id="rId5"/>
    <p:sldId id="651" r:id="rId6"/>
    <p:sldId id="654" r:id="rId7"/>
    <p:sldId id="656" r:id="rId8"/>
    <p:sldId id="65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2B6"/>
    <a:srgbClr val="2E65A6"/>
    <a:srgbClr val="2E3092"/>
    <a:srgbClr val="F7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56" autoAdjust="0"/>
  </p:normalViewPr>
  <p:slideViewPr>
    <p:cSldViewPr snapToGrid="0">
      <p:cViewPr varScale="1">
        <p:scale>
          <a:sx n="103" d="100"/>
          <a:sy n="103" d="100"/>
        </p:scale>
        <p:origin x="11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109A-1DE1-4E9D-AA10-EB1F668BE52D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6659-5B36-47D4-94B0-C6A1D9475F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1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05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宇视私有化，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配置要求：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台</a:t>
            </a:r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核服务器，</a:t>
            </a:r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10w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设备。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定制项目：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283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024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78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12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35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722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18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00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gradFill>
          <a:gsLst>
            <a:gs pos="0">
              <a:schemeClr val="bg1"/>
            </a:gs>
            <a:gs pos="100000">
              <a:schemeClr val="accent2">
                <a:alpha val="0"/>
                <a:lumMod val="64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94" y="0"/>
            <a:ext cx="3787775" cy="3236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F3269-A4F5-441A-83F3-4CF4FE125111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package" Target="../embeddings/Microsoft_Excel____1.xlsx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5702394" y="5051839"/>
            <a:ext cx="3254278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497967" y="5057832"/>
            <a:ext cx="3118183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已合作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方案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2247765" y="3290600"/>
            <a:ext cx="3292697" cy="1038407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云形 2"/>
          <p:cNvSpPr/>
          <p:nvPr/>
        </p:nvSpPr>
        <p:spPr>
          <a:xfrm>
            <a:off x="6307011" y="3470586"/>
            <a:ext cx="1736593" cy="7274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白牌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018114" y="5160343"/>
            <a:ext cx="1614761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456391" y="5160343"/>
            <a:ext cx="1356887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95495" y="1369262"/>
            <a:ext cx="1146229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3894113" y="4307927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168610" y="1882193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6185195" y="1362436"/>
            <a:ext cx="1146229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6766845" y="1882193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6900460" y="4241968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33174"/>
      </p:ext>
    </p:extLst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后续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方案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—</a:t>
            </a:r>
            <a:r>
              <a:rPr lang="zh-CN" altLang="en-US" sz="2000" dirty="0" smtClean="0">
                <a:solidFill>
                  <a:srgbClr val="2982B6"/>
                </a:solidFill>
                <a:latin typeface="+mj-ea"/>
                <a:ea typeface="+mj-ea"/>
              </a:rPr>
              <a:t>白牌云</a:t>
            </a:r>
            <a:endParaRPr lang="zh-CN" altLang="en-US" sz="20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195949" y="3290600"/>
            <a:ext cx="3292697" cy="1038407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云形 2"/>
          <p:cNvSpPr/>
          <p:nvPr/>
        </p:nvSpPr>
        <p:spPr>
          <a:xfrm>
            <a:off x="4284936" y="3469154"/>
            <a:ext cx="1930010" cy="7274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白牌云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42298" y="1398068"/>
            <a:ext cx="3331100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842297" y="4307927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116794" y="1882193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530725" y="3706099"/>
            <a:ext cx="71213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3984702" y="1720753"/>
            <a:ext cx="1184894" cy="18332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452543" y="1524568"/>
            <a:ext cx="419959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接入方案：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云端接口和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 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供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云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APP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52">
            <a:extLst>
              <a:ext uri="{FF2B5EF4-FFF2-40B4-BE49-F238E27FC236}">
                <a16:creationId xmlns:a16="http://schemas.microsoft.com/office/drawing/2014/main" xmlns="" id="{6EA4DE13-A244-4DDE-80E1-E11D5A887BB6}"/>
              </a:ext>
            </a:extLst>
          </p:cNvPr>
          <p:cNvSpPr/>
          <p:nvPr/>
        </p:nvSpPr>
        <p:spPr>
          <a:xfrm>
            <a:off x="3393738" y="3460803"/>
            <a:ext cx="1022145" cy="18777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79982" y="5072563"/>
            <a:ext cx="3254278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5555" y="5078556"/>
            <a:ext cx="3118183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795702" y="5181067"/>
            <a:ext cx="1614761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233979" y="5181067"/>
            <a:ext cx="1356887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848843" y="1989988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4983224" y="4251614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36138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195949" y="2949406"/>
            <a:ext cx="6724144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后续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方案</a:t>
            </a:r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—</a:t>
            </a:r>
            <a:r>
              <a:rPr lang="zh-CN" altLang="en-US" sz="2000" dirty="0">
                <a:solidFill>
                  <a:srgbClr val="2982B6"/>
                </a:solidFill>
                <a:latin typeface="+mj-ea"/>
                <a:ea typeface="+mj-ea"/>
              </a:rPr>
              <a:t>私有</a:t>
            </a:r>
            <a:r>
              <a:rPr lang="zh-CN" altLang="en-US" sz="2000" dirty="0" smtClean="0">
                <a:solidFill>
                  <a:srgbClr val="2982B6"/>
                </a:solidFill>
                <a:latin typeface="+mj-ea"/>
                <a:ea typeface="+mj-ea"/>
              </a:rPr>
              <a:t>云</a:t>
            </a:r>
            <a:endParaRPr lang="zh-CN" altLang="en-US" sz="20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云形 1"/>
          <p:cNvSpPr/>
          <p:nvPr/>
        </p:nvSpPr>
        <p:spPr>
          <a:xfrm>
            <a:off x="195949" y="3290600"/>
            <a:ext cx="3292697" cy="1038407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云形 2"/>
          <p:cNvSpPr/>
          <p:nvPr/>
        </p:nvSpPr>
        <p:spPr>
          <a:xfrm>
            <a:off x="4284936" y="3469154"/>
            <a:ext cx="1781327" cy="7274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私有云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42298" y="1398068"/>
            <a:ext cx="3331100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842297" y="4307927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116794" y="1882193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530725" y="3706099"/>
            <a:ext cx="71213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3984702" y="1720753"/>
            <a:ext cx="1184894" cy="18332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 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52">
            <a:extLst>
              <a:ext uri="{FF2B5EF4-FFF2-40B4-BE49-F238E27FC236}">
                <a16:creationId xmlns:a16="http://schemas.microsoft.com/office/drawing/2014/main" xmlns="" id="{6EA4DE13-A244-4DDE-80E1-E11D5A887BB6}"/>
              </a:ext>
            </a:extLst>
          </p:cNvPr>
          <p:cNvSpPr/>
          <p:nvPr/>
        </p:nvSpPr>
        <p:spPr>
          <a:xfrm>
            <a:off x="3393738" y="3460803"/>
            <a:ext cx="1022145" cy="18777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479982" y="5072563"/>
            <a:ext cx="3254278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5555" y="5078556"/>
            <a:ext cx="3118183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795702" y="5181067"/>
            <a:ext cx="1614761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4233979" y="5181067"/>
            <a:ext cx="1356887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848843" y="1989988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4983224" y="4251614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385448" y="2951478"/>
            <a:ext cx="1456849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978384"/>
              </p:ext>
            </p:extLst>
          </p:nvPr>
        </p:nvGraphicFramePr>
        <p:xfrm>
          <a:off x="9244361" y="539224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工作表" showAsIcon="1" r:id="rId4" imgW="914400" imgH="792360" progId="Excel.Sheet.12">
                  <p:embed/>
                </p:oleObj>
              </mc:Choice>
              <mc:Fallback>
                <p:oleObj name="工作表" showAsIcon="1" r:id="rId4" imgW="914400" imgH="792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44361" y="5392246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6931782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方案关键差异</a:t>
            </a:r>
            <a:endParaRPr lang="zh-CN" altLang="en-US" sz="20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494238"/>
              </p:ext>
            </p:extLst>
          </p:nvPr>
        </p:nvGraphicFramePr>
        <p:xfrm>
          <a:off x="719714" y="1433344"/>
          <a:ext cx="959144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149"/>
                <a:gridCol w="3197149"/>
                <a:gridCol w="31971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要素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白牌云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私有云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基础设施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无需投入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提供基础环境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费用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按量收费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License+</a:t>
                      </a:r>
                      <a:r>
                        <a:rPr lang="zh-CN" altLang="en-US" dirty="0" smtClean="0"/>
                        <a:t>运维费用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联调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共用测试环境，走标准流程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远程调试、远程定位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版本演进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版本升级我司统一把控，灰度风险可控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客户环境单独升级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运维边界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全在我司，专职运维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排障依赖客户配合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25191" y="4537304"/>
            <a:ext cx="834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*</a:t>
            </a:r>
            <a:r>
              <a:rPr lang="zh-CN" altLang="en-US" dirty="0" smtClean="0"/>
              <a:t>前期设备数量不多（</a:t>
            </a:r>
            <a:r>
              <a:rPr lang="en-US" altLang="zh-CN" dirty="0" smtClean="0"/>
              <a:t>&lt;50000</a:t>
            </a:r>
            <a:r>
              <a:rPr lang="zh-CN" altLang="en-US" dirty="0" smtClean="0"/>
              <a:t>）的情况下推荐使用白</a:t>
            </a:r>
            <a:r>
              <a:rPr lang="zh-CN" altLang="en-US" smtClean="0"/>
              <a:t>牌云。后期再迁移到私有云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682515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 smtClean="0">
                <a:solidFill>
                  <a:srgbClr val="2982B6"/>
                </a:solidFill>
                <a:latin typeface="+mj-ea"/>
                <a:ea typeface="+mj-ea"/>
              </a:rPr>
              <a:t>OpenAPI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功能列表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93557"/>
              </p:ext>
            </p:extLst>
          </p:nvPr>
        </p:nvGraphicFramePr>
        <p:xfrm>
          <a:off x="907377" y="1085388"/>
          <a:ext cx="7371572" cy="5368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282"/>
                <a:gridCol w="4145290"/>
              </a:tblGrid>
              <a:tr h="46185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账户模块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开发者账号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appid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子账号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子账号设备权限管理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设备管理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设备增、删、改、查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设备版本、设备升级、升级进度查询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设备状态：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wifi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信号、电量、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卡状态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设备控制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云台控制、预置位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查询历史事件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事件推送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云录像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查询云录像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增值服务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开通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关闭云存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69934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solidFill>
                  <a:srgbClr val="2982B6"/>
                </a:solidFill>
                <a:latin typeface="+mj-ea"/>
                <a:ea typeface="+mj-ea"/>
              </a:rPr>
              <a:t>APP SDK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功能列表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15802"/>
              </p:ext>
            </p:extLst>
          </p:nvPr>
        </p:nvGraphicFramePr>
        <p:xfrm>
          <a:off x="959417" y="1367885"/>
          <a:ext cx="7708798" cy="4476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172"/>
                <a:gridCol w="4994626"/>
              </a:tblGrid>
              <a:tr h="46185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配网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蓝牙配网、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配网、二维码配网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实时预览、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云存回放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播放控制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截图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本地录制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回调：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yuv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 err="1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pcm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语音对讲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PCM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、输出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PCM</a:t>
                      </a: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云台控制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云台控制、预置位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连续播放时长控制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20Min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自动断开</a:t>
                      </a:r>
                      <a:endParaRPr lang="en-US" altLang="zh-CN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iOS</a:t>
                      </a:r>
                      <a:r>
                        <a:rPr lang="zh-CN" altLang="en-US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Android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448782"/>
      </p:ext>
    </p:extLst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工作量评估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0006" y="1315844"/>
            <a:ext cx="70123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Youkey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Cloud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人月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oukey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。配网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SDK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人月，其他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侧：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人月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切换声网到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RTN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rtn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人月。 基于已知问题的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070651"/>
      </p:ext>
    </p:extLst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lang="zh-CN" altLang="en-US" sz="3200" dirty="0">
              <a:solidFill>
                <a:srgbClr val="2982B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283" y="1360449"/>
            <a:ext cx="9177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当前采用的两套账号体系，采用新方案后，原来的设备将仍然使用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solity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cam app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查看，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无法合并到新的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019922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自定义 5">
      <a:dk1>
        <a:srgbClr val="3A3838"/>
      </a:dk1>
      <a:lt1>
        <a:srgbClr val="FFFFFF"/>
      </a:lt1>
      <a:dk2>
        <a:srgbClr val="262626"/>
      </a:dk2>
      <a:lt2>
        <a:srgbClr val="E7E6E6"/>
      </a:lt2>
      <a:accent1>
        <a:srgbClr val="0099D6"/>
      </a:accent1>
      <a:accent2>
        <a:srgbClr val="0082B6"/>
      </a:accent2>
      <a:accent3>
        <a:srgbClr val="0050A0"/>
      </a:accent3>
      <a:accent4>
        <a:srgbClr val="000A89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1575</TotalTime>
  <Words>391</Words>
  <Application>Microsoft Office PowerPoint</Application>
  <PresentationFormat>宽屏</PresentationFormat>
  <Paragraphs>104</Paragraphs>
  <Slides>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等线 Light</vt:lpstr>
      <vt:lpstr>思源黑体 CN Bold</vt:lpstr>
      <vt:lpstr>思源黑体 CN Regular</vt:lpstr>
      <vt:lpstr>微软雅黑</vt:lpstr>
      <vt:lpstr>Arial</vt:lpstr>
      <vt:lpstr>Wingdings</vt:lpstr>
      <vt:lpstr>Office Theme</vt:lpstr>
      <vt:lpstr>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lizhen</dc:creator>
  <cp:lastModifiedBy>Microsoft 帐户</cp:lastModifiedBy>
  <cp:revision>252</cp:revision>
  <dcterms:created xsi:type="dcterms:W3CDTF">2018-08-24T03:35:00Z</dcterms:created>
  <dcterms:modified xsi:type="dcterms:W3CDTF">2026-09-10T03:10:08Z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